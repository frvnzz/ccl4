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4"/>
  </p:notesMasterIdLst>
  <p:sldIdLst>
    <p:sldId id="256" r:id="rId5"/>
    <p:sldId id="258" r:id="rId6"/>
    <p:sldId id="264" r:id="rId7"/>
    <p:sldId id="259" r:id="rId8"/>
    <p:sldId id="260" r:id="rId9"/>
    <p:sldId id="261" r:id="rId10"/>
    <p:sldId id="262" r:id="rId11"/>
    <p:sldId id="263" r:id="rId12"/>
    <p:sldId id="266" r:id="rId1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D72785-C4B8-4F4F-8D0A-D37840BC901A}" v="85" dt="2025-06-20T08:43:16.813"/>
    <p1510:client id="{36A4EDFF-78E6-1864-4B35-3FBBEFD6081E}" v="70" dt="2025-06-19T09:45:35.444"/>
    <p1510:client id="{64476318-1E84-4A2A-9BF8-374FC6535076}" v="36" dt="2025-06-20T07:59:32.735"/>
    <p1510:client id="{88EB1AE8-E0C8-4EF1-B285-C25F744794C9}" v="2" dt="2025-06-19T14:23:35.969"/>
    <p1510:client id="{ED98F082-6777-1A9E-7642-E8663FCEA6CD}" v="181" dt="2025-06-19T17:04:25.7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23"/>
  </p:normalViewPr>
  <p:slideViewPr>
    <p:cSldViewPr snapToGrid="0">
      <p:cViewPr varScale="1">
        <p:scale>
          <a:sx n="117" d="100"/>
          <a:sy n="117" d="100"/>
        </p:scale>
        <p:origin x="55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57E4C2-5CAB-4D4A-97B8-287133D4136E}" type="datetimeFigureOut">
              <a:rPr lang="en-US" smtClean="0"/>
              <a:t>6/20/25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8E8BB4-9E17-C041-8A2F-86E69BE0A3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30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Things we could add to the game it we had more time include</a:t>
            </a:r>
          </a:p>
          <a:p>
            <a:r>
              <a:rPr 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More variety in enemies</a:t>
            </a:r>
          </a:p>
          <a:p>
            <a:r>
              <a:rPr 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Score points shop</a:t>
            </a:r>
          </a:p>
          <a:p>
            <a:r>
              <a:rPr 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Score leaderboard</a:t>
            </a:r>
          </a:p>
          <a:p>
            <a:r>
              <a:rPr 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4. Improve animation quality and accuracy</a:t>
            </a:r>
          </a:p>
          <a:p>
            <a:r>
              <a:rPr 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5. Higher quality audio</a:t>
            </a:r>
          </a:p>
          <a:p>
            <a:r>
              <a:rPr 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6. Improve the level to increase player engagement</a:t>
            </a:r>
          </a:p>
          <a:p>
            <a:r>
              <a:rPr 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7. A boss enemy every X waves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8E8BB4-9E17-C041-8A2F-86E69BE0A32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5302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2676D26-B188-157D-A0EF-586463C5A0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606151E-5988-9AB1-1461-9BA81E65F3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AE06245-70CD-AF4C-1374-5C95D5766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D97AC-B7AE-4AB2-9A9A-F5CC16413D62}" type="datetimeFigureOut">
              <a:rPr lang="de-DE" smtClean="0"/>
              <a:t>20.06.25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608229D-65D9-1A95-4C3E-1E36EA0BE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8963DDF-AD11-DD13-DA20-434444971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3C52E-4395-4E77-B532-B31DFDF3A326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078648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FD1FBDD-31FF-84D7-E082-5C39CD071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46D6F28-3F13-CCA3-3376-303DF3228B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9C4A101-143E-8A56-DAB6-CDC3D11EA5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D97AC-B7AE-4AB2-9A9A-F5CC16413D62}" type="datetimeFigureOut">
              <a:rPr lang="de-DE" smtClean="0"/>
              <a:t>20.06.25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1F7F59A-123A-58CE-B74C-EA4643CF8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CE10344-E33E-8087-DA1D-2740BACD3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3C52E-4395-4E77-B532-B31DFDF3A326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551300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F8F687D-8393-0A0F-CDFF-C0CC9961CC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11A4B9A-BC9D-BD18-9E83-14F9ECF8FD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E6B8840-C6DA-84C1-D53D-5263D1E0B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D97AC-B7AE-4AB2-9A9A-F5CC16413D62}" type="datetimeFigureOut">
              <a:rPr lang="de-DE" smtClean="0"/>
              <a:t>20.06.25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6353577-058C-BD0D-7388-49C0AC138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7487905-FAA7-4CF2-19B3-2EE92CA59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3C52E-4395-4E77-B532-B31DFDF3A326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63437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2EC41D-475B-8A91-05AE-50FC991E4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4259FD6-247E-5AA7-F894-88590D51C6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7575A29-1AC9-778D-BFC6-F56B8F8B98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4524354-4718-3B04-1BAB-AB5A549BF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D97AC-B7AE-4AB2-9A9A-F5CC16413D62}" type="datetimeFigureOut">
              <a:rPr lang="de-DE" smtClean="0"/>
              <a:t>20.06.25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58FAB95-46B4-7711-31F1-850627398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23B4B5B-C4DF-69AB-CE97-D3E7FE66E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3C52E-4395-4E77-B532-B31DFDF3A326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903938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65108C7-DB50-25EF-AD62-E9E405406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E0C054A-0B97-9E9B-0FF3-838350D50F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BC9D0FF-506C-A77F-7219-F4C145B637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87D90F9-3BE0-46BA-DCD7-593A457341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A98C48F5-FADA-B0E0-C59F-A814B4CEF7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55E996F-2C9A-4D15-E9D4-F310341B7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D97AC-B7AE-4AB2-9A9A-F5CC16413D62}" type="datetimeFigureOut">
              <a:rPr lang="de-DE" smtClean="0"/>
              <a:t>20.06.25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7D931395-16F2-F97F-FC1B-D6999C3E77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A9B9A689-693D-C09E-C283-1D6A5B22C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3C52E-4395-4E77-B532-B31DFDF3A326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278780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79FBB6F-2BC0-B1EE-03BF-6058F0789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C43A508-9ADF-A86D-9B79-20FC03482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D97AC-B7AE-4AB2-9A9A-F5CC16413D62}" type="datetimeFigureOut">
              <a:rPr lang="de-DE" smtClean="0"/>
              <a:t>20.06.25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01A8A82-9ADD-EB5E-EF2D-BA46136A7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5ACDA13-9B4B-AC21-C044-03B3464AE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3C52E-4395-4E77-B532-B31DFDF3A326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274375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3365AB97-AB09-4FEA-71DD-5B4A1776F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D97AC-B7AE-4AB2-9A9A-F5CC16413D62}" type="datetimeFigureOut">
              <a:rPr lang="de-DE" smtClean="0"/>
              <a:t>20.06.25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763C1CA-F76E-5EF7-8383-620DD225C2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CFF994D-B2CB-FF09-AE10-A9117BB7B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3C52E-4395-4E77-B532-B31DFDF3A326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28020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28BBA8-CC91-3917-91A2-CC9D0D797D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45F95F6-736B-9791-B16D-F854C56609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1514B7B-5E66-C9A5-EE96-D97386CEC9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ABB0799-DFBB-DDDB-0AEC-D6475B755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D97AC-B7AE-4AB2-9A9A-F5CC16413D62}" type="datetimeFigureOut">
              <a:rPr lang="de-DE" smtClean="0"/>
              <a:t>20.06.25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336074A-5717-C611-F577-E7189F966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37F2844-C557-7F64-660A-EC57CBDA3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3C52E-4395-4E77-B532-B31DFDF3A326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397835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552F324-0618-E3C4-8673-F3CED97F4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DFD7809B-3F37-B4E7-AA1D-4BF81BA3BF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A4E37D6-4039-C917-0D4D-2E3664D520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D0C073D-664E-39CC-D077-39006D25F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D97AC-B7AE-4AB2-9A9A-F5CC16413D62}" type="datetimeFigureOut">
              <a:rPr lang="de-DE" smtClean="0"/>
              <a:t>20.06.25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475FB84-A310-1196-9225-3B293A9434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2764EFB-F7A5-D719-1DCD-E99B21EA3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3C52E-4395-4E77-B532-B31DFDF3A326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015132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66582E-62D9-015A-A01E-C1802E7A2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2F0ED53B-BB8D-A30D-122A-7188DFE47A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BCCD4C3-E086-724A-6528-6F6FC9658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D97AC-B7AE-4AB2-9A9A-F5CC16413D62}" type="datetimeFigureOut">
              <a:rPr lang="de-DE" smtClean="0"/>
              <a:t>20.06.25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BA2B818-C033-C306-2466-637335840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61F6930-FBDD-210F-05B8-D2230798D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3C52E-4395-4E77-B532-B31DFDF3A326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9453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964764B0-736E-6D85-F5BA-3638AAE8E6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86C2A61-1D0F-7387-FD0E-7DAB87719A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C14204D-F182-C8A7-1BD2-E1A55E8E3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D97AC-B7AE-4AB2-9A9A-F5CC16413D62}" type="datetimeFigureOut">
              <a:rPr lang="de-DE" smtClean="0"/>
              <a:t>20.06.25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730886D-57A9-68E0-13DE-D2404E375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61E3E06-8EB5-651A-E745-B5FD3BF95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3C52E-4395-4E77-B532-B31DFDF3A326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811369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CBFD0DC6-D57F-281F-53C5-8165F38F9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D5D2407-F7ED-2FCE-A207-76DB96B544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594E437-B894-108C-9ED8-962FA04826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FD97AC-B7AE-4AB2-9A9A-F5CC16413D62}" type="datetimeFigureOut">
              <a:rPr lang="de-DE" smtClean="0"/>
              <a:t>20.06.25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A933606-BD14-EAD8-EA04-127F2C0B85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6C47D61-A317-443F-26CD-5671FB2AC0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A3C52E-4395-4E77-B532-B31DFDF3A326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387771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C790BE2-4E4F-4AAF-81A2-4A6F4885E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12088DD-B1AD-40E0-8B86-1D87A2CCD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C395952-4E26-45A2-8756-2ADFD6E53C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734BADF-9461-4621-B112-2D7BABEA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E390653-018F-8518-B03E-CED01A869B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26693" y="1030406"/>
            <a:ext cx="8147713" cy="3081242"/>
          </a:xfrm>
        </p:spPr>
        <p:txBody>
          <a:bodyPr anchor="ctr">
            <a:normAutofit/>
          </a:bodyPr>
          <a:lstStyle/>
          <a:p>
            <a:r>
              <a:rPr lang="de-DE" sz="4800">
                <a:solidFill>
                  <a:srgbClr val="FFFFFF"/>
                </a:solidFill>
              </a:rPr>
              <a:t>Deadwood</a:t>
            </a:r>
            <a:endParaRPr lang="de-DE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E9601D6-ABB2-834C-F0B7-1AD8B3B72A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59943" y="5171093"/>
            <a:ext cx="9078628" cy="860620"/>
          </a:xfrm>
        </p:spPr>
        <p:txBody>
          <a:bodyPr anchor="ctr">
            <a:normAutofit/>
          </a:bodyPr>
          <a:lstStyle/>
          <a:p>
            <a:r>
              <a:rPr lang="de-DE">
                <a:solidFill>
                  <a:srgbClr val="FFFFFF"/>
                </a:solidFill>
              </a:rPr>
              <a:t>Marcus Fichtinger, Franz-Aurel Huber, </a:t>
            </a:r>
            <a:r>
              <a:rPr lang="de-DE" err="1">
                <a:solidFill>
                  <a:srgbClr val="FFFFFF"/>
                </a:solidFill>
              </a:rPr>
              <a:t>Alikhan</a:t>
            </a:r>
            <a:r>
              <a:rPr lang="de-DE">
                <a:solidFill>
                  <a:srgbClr val="FFFFFF"/>
                </a:solidFill>
              </a:rPr>
              <a:t> </a:t>
            </a:r>
            <a:r>
              <a:rPr lang="de-DE" err="1">
                <a:solidFill>
                  <a:srgbClr val="FFFFFF"/>
                </a:solidFill>
              </a:rPr>
              <a:t>Manat</a:t>
            </a:r>
            <a:r>
              <a:rPr lang="de-DE">
                <a:solidFill>
                  <a:srgbClr val="FFFFFF"/>
                </a:solidFill>
              </a:rPr>
              <a:t>, Selina Hacker</a:t>
            </a:r>
          </a:p>
        </p:txBody>
      </p:sp>
    </p:spTree>
    <p:extLst>
      <p:ext uri="{BB962C8B-B14F-4D97-AF65-F5344CB8AC3E}">
        <p14:creationId xmlns:p14="http://schemas.microsoft.com/office/powerpoint/2010/main" val="4658687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B8E83C0-D9D3-AD19-2636-28A5407DF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de-DE" sz="4000" err="1">
                <a:solidFill>
                  <a:srgbClr val="FFFFFF"/>
                </a:solidFill>
              </a:rPr>
              <a:t>Introduction</a:t>
            </a:r>
            <a:r>
              <a:rPr lang="de-DE" sz="4000">
                <a:solidFill>
                  <a:srgbClr val="FFFFFF"/>
                </a:solidFill>
              </a:rPr>
              <a:t> &amp; Motivation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A9C1427-28BC-A730-2630-FC4418B62A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/>
              <a:t>The main inspiration of our project was a game called Call of Mini: Zombies that we used to play when we were kids. </a:t>
            </a:r>
          </a:p>
          <a:p>
            <a:pPr marL="0" indent="0">
              <a:buNone/>
            </a:pPr>
            <a:endParaRPr lang="en-US" sz="2000"/>
          </a:p>
          <a:p>
            <a:pPr marL="0" indent="0">
              <a:buNone/>
            </a:pPr>
            <a:r>
              <a:rPr lang="en-US" sz="2000"/>
              <a:t>We wanted to create a simple first-person, arcade-like wave-shooter in a similar cartoony and blocky art style.</a:t>
            </a:r>
          </a:p>
        </p:txBody>
      </p:sp>
    </p:spTree>
    <p:extLst>
      <p:ext uri="{BB962C8B-B14F-4D97-AF65-F5344CB8AC3E}">
        <p14:creationId xmlns:p14="http://schemas.microsoft.com/office/powerpoint/2010/main" val="33350793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C9CB44-1E2F-D9E5-50BA-EEB650BA84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FBB2913C-E713-709F-7E4E-60D98376F2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9F9DC5E-6992-879F-8AB1-D3E631C434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30000B8-DBAD-FEE2-52EB-72F77CCE77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1008F85-0B89-EE31-6E7E-A069A54C26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91C36CC-A2E0-6904-7A50-0AD4EF8B1D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40A6267-B533-392E-71E0-DEA7119E2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de-DE" sz="4000">
                <a:solidFill>
                  <a:srgbClr val="FFFFFF"/>
                </a:solidFill>
              </a:rPr>
              <a:t>3D Modeling &amp; Animation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E705B03-B64D-22A8-62CF-F479B57FD3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GB" sz="2400" noProof="0"/>
              <a:t>3 zombie enemy models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GB" sz="2000" noProof="0"/>
              <a:t>With Idle, Walking and Attack animation</a:t>
            </a:r>
          </a:p>
          <a:p>
            <a:r>
              <a:rPr lang="en-GB" sz="2400"/>
              <a:t>Assets</a:t>
            </a:r>
            <a:endParaRPr lang="en-GB" sz="1600"/>
          </a:p>
          <a:p>
            <a:pPr lvl="1">
              <a:buFont typeface="Courier New" panose="020B0604020202020204" pitchFamily="34" charset="0"/>
              <a:buChar char="o"/>
            </a:pPr>
            <a:r>
              <a:rPr lang="en-GB" sz="2000"/>
              <a:t>3 different weapons to switch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GB" sz="2000"/>
              <a:t>Ammunition crates to collect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GB" sz="2000"/>
              <a:t>Apocalyptic car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GB" sz="2000"/>
              <a:t>Explosive barrel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GB" sz="2000"/>
              <a:t>House for the scene decoration</a:t>
            </a:r>
          </a:p>
          <a:p>
            <a:endParaRPr lang="de-DE" sz="1600"/>
          </a:p>
        </p:txBody>
      </p:sp>
    </p:spTree>
    <p:extLst>
      <p:ext uri="{BB962C8B-B14F-4D97-AF65-F5344CB8AC3E}">
        <p14:creationId xmlns:p14="http://schemas.microsoft.com/office/powerpoint/2010/main" val="23325708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FC710CE-1FFC-B8F7-8049-A1E7034C03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de-DE" sz="4000">
                <a:solidFill>
                  <a:srgbClr val="FFFFFF"/>
                </a:solidFill>
              </a:rPr>
              <a:t>Game Audio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2BCC523-C697-C633-F7D6-A4A037942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 lnSpcReduction="10000"/>
          </a:bodyPr>
          <a:lstStyle/>
          <a:p>
            <a:r>
              <a:rPr lang="de-DE" sz="2400"/>
              <a:t>Zombie </a:t>
            </a:r>
            <a:r>
              <a:rPr lang="de-DE" sz="2400" err="1"/>
              <a:t>sounds</a:t>
            </a:r>
            <a:r>
              <a:rPr lang="de-DE" sz="2400"/>
              <a:t> </a:t>
            </a:r>
            <a:r>
              <a:rPr lang="de-DE" sz="2400" err="1"/>
              <a:t>to</a:t>
            </a:r>
            <a:r>
              <a:rPr lang="de-DE" sz="2400"/>
              <a:t> </a:t>
            </a:r>
            <a:r>
              <a:rPr lang="de-DE" sz="2400" err="1"/>
              <a:t>hear</a:t>
            </a:r>
            <a:r>
              <a:rPr lang="de-DE" sz="2400"/>
              <a:t> </a:t>
            </a:r>
            <a:r>
              <a:rPr lang="de-DE" sz="2400" err="1"/>
              <a:t>nearby</a:t>
            </a:r>
            <a:r>
              <a:rPr lang="de-DE" sz="2400"/>
              <a:t> </a:t>
            </a:r>
            <a:r>
              <a:rPr lang="de-DE" sz="2400" err="1"/>
              <a:t>zombies</a:t>
            </a:r>
            <a:endParaRPr lang="de-DE" sz="2400"/>
          </a:p>
          <a:p>
            <a:pPr lvl="1">
              <a:buFont typeface="Courier New" panose="020B0604020202020204" pitchFamily="34" charset="0"/>
              <a:buChar char="o"/>
            </a:pPr>
            <a:r>
              <a:rPr lang="de-DE" sz="2000" err="1"/>
              <a:t>Growling</a:t>
            </a:r>
            <a:r>
              <a:rPr lang="de-DE" sz="2000"/>
              <a:t> and </a:t>
            </a:r>
            <a:r>
              <a:rPr lang="de-DE" sz="2000" err="1"/>
              <a:t>footsteps</a:t>
            </a:r>
            <a:endParaRPr lang="de-DE" sz="2000"/>
          </a:p>
          <a:p>
            <a:r>
              <a:rPr lang="de-DE" sz="2400" err="1"/>
              <a:t>Footstep</a:t>
            </a:r>
            <a:r>
              <a:rPr lang="de-DE" sz="2400"/>
              <a:t> </a:t>
            </a:r>
            <a:r>
              <a:rPr lang="de-DE" sz="2400" err="1"/>
              <a:t>sound</a:t>
            </a:r>
            <a:r>
              <a:rPr lang="de-DE" sz="2400"/>
              <a:t> </a:t>
            </a:r>
            <a:r>
              <a:rPr lang="de-DE" sz="2400" err="1"/>
              <a:t>of</a:t>
            </a:r>
            <a:r>
              <a:rPr lang="de-DE" sz="2400"/>
              <a:t> </a:t>
            </a:r>
            <a:r>
              <a:rPr lang="de-DE" sz="2400" err="1"/>
              <a:t>the</a:t>
            </a:r>
            <a:r>
              <a:rPr lang="de-DE" sz="2400"/>
              <a:t> </a:t>
            </a:r>
            <a:r>
              <a:rPr lang="de-DE" sz="2400" err="1"/>
              <a:t>player</a:t>
            </a:r>
            <a:r>
              <a:rPr lang="de-DE" sz="2400"/>
              <a:t> </a:t>
            </a:r>
            <a:r>
              <a:rPr lang="de-DE" sz="2400" err="1"/>
              <a:t>character</a:t>
            </a:r>
            <a:endParaRPr lang="de-DE" sz="2400"/>
          </a:p>
          <a:p>
            <a:r>
              <a:rPr lang="de-DE" sz="2400"/>
              <a:t>Sounds </a:t>
            </a:r>
            <a:r>
              <a:rPr lang="de-DE" sz="2400" err="1"/>
              <a:t>for</a:t>
            </a:r>
            <a:r>
              <a:rPr lang="de-DE" sz="2400"/>
              <a:t> </a:t>
            </a:r>
            <a:r>
              <a:rPr lang="de-DE" sz="2400" err="1"/>
              <a:t>the</a:t>
            </a:r>
            <a:r>
              <a:rPr lang="de-DE" sz="2400"/>
              <a:t> </a:t>
            </a:r>
            <a:r>
              <a:rPr lang="de-DE" sz="2400" err="1"/>
              <a:t>weapons</a:t>
            </a:r>
            <a:endParaRPr lang="de-DE" sz="2400"/>
          </a:p>
          <a:p>
            <a:pPr lvl="1">
              <a:buFont typeface="Courier New" panose="020B0604020202020204" pitchFamily="34" charset="0"/>
              <a:buChar char="o"/>
            </a:pPr>
            <a:r>
              <a:rPr lang="de-DE" sz="2000"/>
              <a:t>Shooting </a:t>
            </a:r>
            <a:r>
              <a:rPr lang="de-DE" sz="2000" err="1"/>
              <a:t>sounds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de-DE" sz="2000" err="1"/>
              <a:t>Reload</a:t>
            </a:r>
            <a:r>
              <a:rPr lang="de-DE" sz="2000"/>
              <a:t> </a:t>
            </a:r>
            <a:r>
              <a:rPr lang="de-DE" sz="2000" err="1"/>
              <a:t>sounds</a:t>
            </a:r>
          </a:p>
          <a:p>
            <a:r>
              <a:rPr lang="de-DE" sz="2400"/>
              <a:t>Background </a:t>
            </a:r>
            <a:r>
              <a:rPr lang="de-DE" sz="2400" err="1"/>
              <a:t>music</a:t>
            </a:r>
            <a:r>
              <a:rPr lang="de-DE" sz="2400"/>
              <a:t> </a:t>
            </a:r>
            <a:r>
              <a:rPr lang="de-DE" sz="2400" err="1"/>
              <a:t>for</a:t>
            </a:r>
            <a:r>
              <a:rPr lang="de-DE" sz="2400"/>
              <a:t> </a:t>
            </a:r>
            <a:r>
              <a:rPr lang="de-DE" sz="2400" err="1"/>
              <a:t>the</a:t>
            </a:r>
            <a:r>
              <a:rPr lang="de-DE" sz="2400"/>
              <a:t> </a:t>
            </a:r>
            <a:r>
              <a:rPr lang="de-DE" sz="2400" err="1"/>
              <a:t>main</a:t>
            </a:r>
            <a:r>
              <a:rPr lang="de-DE" sz="2400"/>
              <a:t> </a:t>
            </a:r>
            <a:r>
              <a:rPr lang="de-DE" sz="2400" err="1"/>
              <a:t>menu</a:t>
            </a:r>
            <a:r>
              <a:rPr lang="de-DE" sz="2400"/>
              <a:t> and </a:t>
            </a:r>
            <a:r>
              <a:rPr lang="de-DE" sz="2400" err="1"/>
              <a:t>for</a:t>
            </a:r>
            <a:r>
              <a:rPr lang="de-DE" sz="2400"/>
              <a:t> </a:t>
            </a:r>
            <a:r>
              <a:rPr lang="de-DE" sz="2400" err="1"/>
              <a:t>the</a:t>
            </a:r>
            <a:r>
              <a:rPr lang="de-DE" sz="2400"/>
              <a:t> game</a:t>
            </a:r>
          </a:p>
          <a:p>
            <a:r>
              <a:rPr lang="de-DE" sz="2400"/>
              <a:t>Environmental </a:t>
            </a:r>
            <a:r>
              <a:rPr lang="de-DE" sz="2400" err="1"/>
              <a:t>sounds</a:t>
            </a:r>
            <a:r>
              <a:rPr lang="de-DE" sz="2400"/>
              <a:t> (e.g. </a:t>
            </a:r>
            <a:r>
              <a:rPr lang="de-DE" sz="2400" err="1"/>
              <a:t>ambience</a:t>
            </a:r>
            <a:r>
              <a:rPr lang="de-DE" sz="2400"/>
              <a:t>, </a:t>
            </a:r>
            <a:r>
              <a:rPr lang="de-DE" sz="2400" err="1"/>
              <a:t>water</a:t>
            </a:r>
            <a:r>
              <a:rPr lang="de-DE" sz="2400"/>
              <a:t>, explosive </a:t>
            </a:r>
            <a:r>
              <a:rPr lang="de-DE" sz="2400" err="1"/>
              <a:t>barrels</a:t>
            </a:r>
            <a:r>
              <a:rPr lang="de-DE" sz="2400"/>
              <a:t>)</a:t>
            </a:r>
          </a:p>
          <a:p>
            <a:r>
              <a:rPr lang="de-DE" sz="2400"/>
              <a:t>Wave </a:t>
            </a:r>
            <a:r>
              <a:rPr lang="de-DE" sz="2400" err="1"/>
              <a:t>complete</a:t>
            </a:r>
            <a:r>
              <a:rPr lang="de-DE" sz="2400"/>
              <a:t> </a:t>
            </a:r>
            <a:r>
              <a:rPr lang="de-DE" sz="2400" err="1"/>
              <a:t>sound</a:t>
            </a:r>
            <a:endParaRPr lang="de-DE" sz="2400"/>
          </a:p>
        </p:txBody>
      </p:sp>
    </p:spTree>
    <p:extLst>
      <p:ext uri="{BB962C8B-B14F-4D97-AF65-F5344CB8AC3E}">
        <p14:creationId xmlns:p14="http://schemas.microsoft.com/office/powerpoint/2010/main" val="28652388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D4E865D-3FB2-BA13-C4DA-02496C9828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de-DE" sz="4000">
                <a:solidFill>
                  <a:srgbClr val="FFFFFF"/>
                </a:solidFill>
              </a:rPr>
              <a:t>Unity</a:t>
            </a:r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1B65701C-3120-ACBA-649F-9D30447810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US" sz="2200">
                <a:ea typeface="+mn-lt"/>
                <a:cs typeface="+mn-lt"/>
              </a:rPr>
              <a:t>Enemy AI that handles chasing and attacking the player</a:t>
            </a:r>
          </a:p>
          <a:p>
            <a:r>
              <a:rPr lang="en-US" sz="2200">
                <a:ea typeface="+mn-lt"/>
                <a:cs typeface="+mn-lt"/>
              </a:rPr>
              <a:t>Player movement with jumping</a:t>
            </a:r>
          </a:p>
          <a:p>
            <a:r>
              <a:rPr lang="en-US" sz="2200">
                <a:ea typeface="+mn-lt"/>
                <a:cs typeface="+mn-lt"/>
              </a:rPr>
              <a:t>Weapon system with </a:t>
            </a:r>
            <a:r>
              <a:rPr lang="en-US" sz="2200" err="1">
                <a:ea typeface="+mn-lt"/>
                <a:cs typeface="+mn-lt"/>
              </a:rPr>
              <a:t>raycast</a:t>
            </a:r>
            <a:endParaRPr lang="en-US" sz="2200">
              <a:ea typeface="+mn-lt"/>
              <a:cs typeface="+mn-lt"/>
            </a:endParaRPr>
          </a:p>
          <a:p>
            <a:r>
              <a:rPr lang="en-US" sz="2200">
                <a:ea typeface="+mn-lt"/>
                <a:cs typeface="+mn-lt"/>
              </a:rPr>
              <a:t>Switching between different weapons</a:t>
            </a:r>
          </a:p>
          <a:p>
            <a:r>
              <a:rPr lang="en-US" sz="2200">
                <a:ea typeface="+mn-lt"/>
                <a:cs typeface="+mn-lt"/>
              </a:rPr>
              <a:t>Reload system</a:t>
            </a:r>
          </a:p>
          <a:p>
            <a:r>
              <a:rPr lang="en-US" sz="2200" err="1">
                <a:ea typeface="+mn-lt"/>
                <a:cs typeface="+mn-lt"/>
              </a:rPr>
              <a:t>Interactables</a:t>
            </a:r>
            <a:r>
              <a:rPr lang="en-US" sz="2200">
                <a:ea typeface="+mn-lt"/>
                <a:cs typeface="+mn-lt"/>
              </a:rPr>
              <a:t> like ammo crates and explosive barrels</a:t>
            </a:r>
          </a:p>
          <a:p>
            <a:r>
              <a:rPr lang="en-US" sz="2200">
                <a:ea typeface="+mn-lt"/>
                <a:cs typeface="+mn-lt"/>
              </a:rPr>
              <a:t>Pause menu</a:t>
            </a:r>
          </a:p>
          <a:p>
            <a:endParaRPr lang="en-US" sz="2200">
              <a:ea typeface="+mn-lt"/>
              <a:cs typeface="+mn-lt"/>
            </a:endParaRPr>
          </a:p>
          <a:p>
            <a:endParaRPr lang="de-DE" sz="1600"/>
          </a:p>
        </p:txBody>
      </p:sp>
    </p:spTree>
    <p:extLst>
      <p:ext uri="{BB962C8B-B14F-4D97-AF65-F5344CB8AC3E}">
        <p14:creationId xmlns:p14="http://schemas.microsoft.com/office/powerpoint/2010/main" val="138813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C3BA394-12F7-1A4E-D9DD-C83B11E43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de-DE" sz="4000">
                <a:solidFill>
                  <a:srgbClr val="FFFFFF"/>
                </a:solidFill>
              </a:rPr>
              <a:t>C# &amp; Theory </a:t>
            </a:r>
            <a:r>
              <a:rPr lang="de-DE" sz="4000" err="1">
                <a:solidFill>
                  <a:srgbClr val="FFFFFF"/>
                </a:solidFill>
              </a:rPr>
              <a:t>of</a:t>
            </a:r>
            <a:r>
              <a:rPr lang="de-DE" sz="4000">
                <a:solidFill>
                  <a:srgbClr val="FFFFFF"/>
                </a:solidFill>
              </a:rPr>
              <a:t> CG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09FACB4-4797-FC90-11E5-05C0367B04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7558" y="2020758"/>
            <a:ext cx="9724031" cy="4400534"/>
          </a:xfrm>
        </p:spPr>
        <p:txBody>
          <a:bodyPr anchor="ctr">
            <a:normAutofit fontScale="92500" lnSpcReduction="10000"/>
          </a:bodyPr>
          <a:lstStyle/>
          <a:p>
            <a:pPr marL="0" indent="0">
              <a:buNone/>
            </a:pPr>
            <a:r>
              <a:rPr lang="de-DE" sz="2400" b="1"/>
              <a:t>C#</a:t>
            </a:r>
            <a:endParaRPr lang="de-DE" sz="2000">
              <a:ea typeface="+mn-lt"/>
              <a:cs typeface="+mn-lt"/>
            </a:endParaRPr>
          </a:p>
          <a:p>
            <a:pPr marL="342900" indent="-342900"/>
            <a:r>
              <a:rPr lang="de-DE" sz="2400">
                <a:ea typeface="+mn-lt"/>
                <a:cs typeface="+mn-lt"/>
              </a:rPr>
              <a:t>Wave </a:t>
            </a:r>
            <a:r>
              <a:rPr lang="de-DE" sz="2400" err="1">
                <a:ea typeface="+mn-lt"/>
                <a:cs typeface="+mn-lt"/>
              </a:rPr>
              <a:t>management</a:t>
            </a:r>
            <a:r>
              <a:rPr lang="de-DE" sz="2400">
                <a:ea typeface="+mn-lt"/>
                <a:cs typeface="+mn-lt"/>
              </a:rPr>
              <a:t> </a:t>
            </a:r>
            <a:r>
              <a:rPr lang="de-DE" sz="2400" err="1">
                <a:ea typeface="+mn-lt"/>
                <a:cs typeface="+mn-lt"/>
              </a:rPr>
              <a:t>script</a:t>
            </a:r>
            <a:r>
              <a:rPr lang="de-DE" sz="2400">
                <a:ea typeface="+mn-lt"/>
                <a:cs typeface="+mn-lt"/>
              </a:rPr>
              <a:t> </a:t>
            </a:r>
            <a:r>
              <a:rPr lang="de-DE" sz="2400" err="1">
                <a:ea typeface="+mn-lt"/>
                <a:cs typeface="+mn-lt"/>
              </a:rPr>
              <a:t>for</a:t>
            </a:r>
            <a:r>
              <a:rPr lang="de-DE" sz="2400">
                <a:ea typeface="+mn-lt"/>
                <a:cs typeface="+mn-lt"/>
              </a:rPr>
              <a:t> </a:t>
            </a:r>
            <a:r>
              <a:rPr lang="de-DE" sz="2400" err="1">
                <a:ea typeface="+mn-lt"/>
                <a:cs typeface="+mn-lt"/>
              </a:rPr>
              <a:t>spawning</a:t>
            </a:r>
            <a:r>
              <a:rPr lang="de-DE" sz="2400">
                <a:ea typeface="+mn-lt"/>
                <a:cs typeface="+mn-lt"/>
              </a:rPr>
              <a:t> </a:t>
            </a:r>
            <a:r>
              <a:rPr lang="de-DE" sz="2400" err="1">
                <a:ea typeface="+mn-lt"/>
                <a:cs typeface="+mn-lt"/>
              </a:rPr>
              <a:t>enemies</a:t>
            </a:r>
            <a:r>
              <a:rPr lang="de-DE" sz="2400">
                <a:ea typeface="+mn-lt"/>
                <a:cs typeface="+mn-lt"/>
              </a:rPr>
              <a:t> at </a:t>
            </a:r>
            <a:r>
              <a:rPr lang="de-DE" sz="2400" err="1">
                <a:ea typeface="+mn-lt"/>
                <a:cs typeface="+mn-lt"/>
              </a:rPr>
              <a:t>defined</a:t>
            </a:r>
            <a:r>
              <a:rPr lang="de-DE" sz="2400">
                <a:ea typeface="+mn-lt"/>
                <a:cs typeface="+mn-lt"/>
              </a:rPr>
              <a:t> spawn </a:t>
            </a:r>
            <a:r>
              <a:rPr lang="de-DE" sz="2400" err="1">
                <a:ea typeface="+mn-lt"/>
                <a:cs typeface="+mn-lt"/>
              </a:rPr>
              <a:t>locations</a:t>
            </a:r>
            <a:r>
              <a:rPr lang="de-DE" sz="2400">
                <a:ea typeface="+mn-lt"/>
                <a:cs typeface="+mn-lt"/>
              </a:rPr>
              <a:t> and </a:t>
            </a:r>
            <a:r>
              <a:rPr lang="de-DE" sz="2400" err="1">
                <a:ea typeface="+mn-lt"/>
                <a:cs typeface="+mn-lt"/>
              </a:rPr>
              <a:t>increasing</a:t>
            </a:r>
            <a:r>
              <a:rPr lang="de-DE" sz="2400">
                <a:ea typeface="+mn-lt"/>
                <a:cs typeface="+mn-lt"/>
              </a:rPr>
              <a:t> </a:t>
            </a:r>
            <a:r>
              <a:rPr lang="de-DE" sz="2400" err="1">
                <a:ea typeface="+mn-lt"/>
                <a:cs typeface="+mn-lt"/>
              </a:rPr>
              <a:t>amount</a:t>
            </a:r>
            <a:r>
              <a:rPr lang="de-DE" sz="2400">
                <a:ea typeface="+mn-lt"/>
                <a:cs typeface="+mn-lt"/>
              </a:rPr>
              <a:t> </a:t>
            </a:r>
            <a:r>
              <a:rPr lang="de-DE" sz="2400" err="1">
                <a:ea typeface="+mn-lt"/>
                <a:cs typeface="+mn-lt"/>
              </a:rPr>
              <a:t>of</a:t>
            </a:r>
            <a:r>
              <a:rPr lang="de-DE" sz="2400">
                <a:ea typeface="+mn-lt"/>
                <a:cs typeface="+mn-lt"/>
              </a:rPr>
              <a:t> </a:t>
            </a:r>
            <a:r>
              <a:rPr lang="de-DE" sz="2400" err="1">
                <a:ea typeface="+mn-lt"/>
                <a:cs typeface="+mn-lt"/>
              </a:rPr>
              <a:t>them</a:t>
            </a:r>
            <a:r>
              <a:rPr lang="de-DE" sz="2400">
                <a:ea typeface="+mn-lt"/>
                <a:cs typeface="+mn-lt"/>
              </a:rPr>
              <a:t> </a:t>
            </a:r>
            <a:r>
              <a:rPr lang="de-DE" sz="2400" err="1">
                <a:ea typeface="+mn-lt"/>
                <a:cs typeface="+mn-lt"/>
              </a:rPr>
              <a:t>over</a:t>
            </a:r>
            <a:r>
              <a:rPr lang="de-DE" sz="2400">
                <a:ea typeface="+mn-lt"/>
                <a:cs typeface="+mn-lt"/>
              </a:rPr>
              <a:t> </a:t>
            </a:r>
            <a:r>
              <a:rPr lang="de-DE" sz="2400" err="1">
                <a:ea typeface="+mn-lt"/>
                <a:cs typeface="+mn-lt"/>
              </a:rPr>
              <a:t>the</a:t>
            </a:r>
            <a:r>
              <a:rPr lang="de-DE" sz="2400">
                <a:ea typeface="+mn-lt"/>
                <a:cs typeface="+mn-lt"/>
              </a:rPr>
              <a:t> </a:t>
            </a:r>
            <a:r>
              <a:rPr lang="de-DE" sz="2400" err="1">
                <a:ea typeface="+mn-lt"/>
                <a:cs typeface="+mn-lt"/>
              </a:rPr>
              <a:t>course</a:t>
            </a:r>
            <a:r>
              <a:rPr lang="de-DE" sz="2400">
                <a:ea typeface="+mn-lt"/>
                <a:cs typeface="+mn-lt"/>
              </a:rPr>
              <a:t> </a:t>
            </a:r>
            <a:r>
              <a:rPr lang="de-DE" sz="2400" err="1">
                <a:ea typeface="+mn-lt"/>
                <a:cs typeface="+mn-lt"/>
              </a:rPr>
              <a:t>of</a:t>
            </a:r>
            <a:r>
              <a:rPr lang="de-DE" sz="2400">
                <a:ea typeface="+mn-lt"/>
                <a:cs typeface="+mn-lt"/>
              </a:rPr>
              <a:t> </a:t>
            </a:r>
            <a:r>
              <a:rPr lang="de-DE" sz="2400" err="1">
                <a:ea typeface="+mn-lt"/>
                <a:cs typeface="+mn-lt"/>
              </a:rPr>
              <a:t>the</a:t>
            </a:r>
            <a:r>
              <a:rPr lang="de-DE" sz="2400">
                <a:ea typeface="+mn-lt"/>
                <a:cs typeface="+mn-lt"/>
              </a:rPr>
              <a:t> </a:t>
            </a:r>
            <a:r>
              <a:rPr lang="de-DE" sz="2400" err="1">
                <a:ea typeface="+mn-lt"/>
                <a:cs typeface="+mn-lt"/>
              </a:rPr>
              <a:t>waves</a:t>
            </a:r>
            <a:endParaRPr lang="de-DE" sz="2400">
              <a:ea typeface="+mn-lt"/>
              <a:cs typeface="+mn-lt"/>
            </a:endParaRPr>
          </a:p>
          <a:p>
            <a:pPr marL="342900" indent="-342900"/>
            <a:r>
              <a:rPr lang="de-DE" sz="2400" err="1"/>
              <a:t>Ammo</a:t>
            </a:r>
            <a:r>
              <a:rPr lang="de-DE" sz="2400"/>
              <a:t> </a:t>
            </a:r>
            <a:r>
              <a:rPr lang="de-DE" sz="2400" err="1"/>
              <a:t>crates</a:t>
            </a:r>
            <a:r>
              <a:rPr lang="de-DE" sz="2400"/>
              <a:t> </a:t>
            </a:r>
            <a:r>
              <a:rPr lang="de-DE" sz="2400" err="1"/>
              <a:t>spawning</a:t>
            </a:r>
            <a:r>
              <a:rPr lang="de-DE" sz="2400"/>
              <a:t> at different </a:t>
            </a:r>
            <a:r>
              <a:rPr lang="de-DE" sz="2400" err="1"/>
              <a:t>locations</a:t>
            </a:r>
            <a:r>
              <a:rPr lang="de-DE" sz="2400"/>
              <a:t> after </a:t>
            </a:r>
            <a:r>
              <a:rPr lang="de-DE" sz="2400" err="1"/>
              <a:t>each</a:t>
            </a:r>
            <a:r>
              <a:rPr lang="de-DE" sz="2400"/>
              <a:t> </a:t>
            </a:r>
            <a:r>
              <a:rPr lang="de-DE" sz="2400" err="1"/>
              <a:t>wave</a:t>
            </a:r>
            <a:r>
              <a:rPr lang="de-DE" sz="2400"/>
              <a:t> </a:t>
            </a:r>
            <a:r>
              <a:rPr lang="de-DE" sz="2400" err="1"/>
              <a:t>to</a:t>
            </a:r>
            <a:r>
              <a:rPr lang="de-DE" sz="2400"/>
              <a:t> </a:t>
            </a:r>
            <a:r>
              <a:rPr lang="de-DE" sz="2400" err="1"/>
              <a:t>provide</a:t>
            </a:r>
            <a:r>
              <a:rPr lang="de-DE" sz="2400"/>
              <a:t> </a:t>
            </a:r>
            <a:r>
              <a:rPr lang="de-DE" sz="2400" err="1"/>
              <a:t>player</a:t>
            </a:r>
            <a:r>
              <a:rPr lang="de-DE" sz="2400"/>
              <a:t> </a:t>
            </a:r>
            <a:r>
              <a:rPr lang="de-DE" sz="2400" err="1"/>
              <a:t>with</a:t>
            </a:r>
            <a:r>
              <a:rPr lang="de-DE" sz="2400"/>
              <a:t> </a:t>
            </a:r>
            <a:r>
              <a:rPr lang="de-DE" sz="2400" err="1"/>
              <a:t>sufficient</a:t>
            </a:r>
            <a:r>
              <a:rPr lang="de-DE" sz="2400"/>
              <a:t> </a:t>
            </a:r>
            <a:r>
              <a:rPr lang="de-DE" sz="2400" err="1"/>
              <a:t>ammunition</a:t>
            </a:r>
            <a:endParaRPr lang="de-DE" sz="2400"/>
          </a:p>
          <a:p>
            <a:pPr marL="457200" lvl="1" indent="0">
              <a:buNone/>
            </a:pPr>
            <a:endParaRPr lang="de-DE" sz="2000"/>
          </a:p>
          <a:p>
            <a:pPr marL="0" indent="0">
              <a:buNone/>
            </a:pPr>
            <a:r>
              <a:rPr lang="de-DE" sz="2400" b="1"/>
              <a:t>Theory </a:t>
            </a:r>
            <a:r>
              <a:rPr lang="de-DE" sz="2400" b="1" err="1"/>
              <a:t>of</a:t>
            </a:r>
            <a:r>
              <a:rPr lang="de-DE" sz="2400" b="1"/>
              <a:t> CG</a:t>
            </a:r>
            <a:endParaRPr lang="de-DE" sz="2000" b="1"/>
          </a:p>
          <a:p>
            <a:pPr marL="342900" indent="-342900"/>
            <a:r>
              <a:rPr lang="de-DE" sz="2400"/>
              <a:t>First-person</a:t>
            </a:r>
            <a:r>
              <a:rPr lang="de-DE" sz="2400">
                <a:ea typeface="+mn-lt"/>
                <a:cs typeface="+mn-lt"/>
              </a:rPr>
              <a:t> </a:t>
            </a:r>
            <a:r>
              <a:rPr lang="de-DE" sz="2400" err="1">
                <a:ea typeface="+mn-lt"/>
                <a:cs typeface="+mn-lt"/>
              </a:rPr>
              <a:t>camera</a:t>
            </a:r>
            <a:r>
              <a:rPr lang="de-DE" sz="2400">
                <a:ea typeface="+mn-lt"/>
                <a:cs typeface="+mn-lt"/>
              </a:rPr>
              <a:t> </a:t>
            </a:r>
            <a:r>
              <a:rPr lang="de-DE" sz="2400" err="1">
                <a:ea typeface="+mn-lt"/>
                <a:cs typeface="+mn-lt"/>
              </a:rPr>
              <a:t>setup</a:t>
            </a:r>
            <a:r>
              <a:rPr lang="de-DE" sz="2400">
                <a:ea typeface="+mn-lt"/>
                <a:cs typeface="+mn-lt"/>
              </a:rPr>
              <a:t> </a:t>
            </a:r>
            <a:r>
              <a:rPr lang="de-DE" sz="2400" err="1">
                <a:ea typeface="+mn-lt"/>
                <a:cs typeface="+mn-lt"/>
              </a:rPr>
              <a:t>for</a:t>
            </a:r>
            <a:r>
              <a:rPr lang="de-DE" sz="2400">
                <a:ea typeface="+mn-lt"/>
                <a:cs typeface="+mn-lt"/>
              </a:rPr>
              <a:t> immersive </a:t>
            </a:r>
            <a:r>
              <a:rPr lang="de-DE" sz="2400" err="1">
                <a:ea typeface="+mn-lt"/>
                <a:cs typeface="+mn-lt"/>
              </a:rPr>
              <a:t>gameplay</a:t>
            </a:r>
            <a:endParaRPr lang="de-DE" b="1">
              <a:ea typeface="+mn-lt"/>
              <a:cs typeface="+mn-lt"/>
            </a:endParaRPr>
          </a:p>
          <a:p>
            <a:pPr marL="342900" indent="-342900"/>
            <a:r>
              <a:rPr lang="de-DE" sz="2400">
                <a:ea typeface="+mn-lt"/>
                <a:cs typeface="+mn-lt"/>
              </a:rPr>
              <a:t>3D </a:t>
            </a:r>
            <a:r>
              <a:rPr lang="de-DE" sz="2400" err="1">
                <a:ea typeface="+mn-lt"/>
                <a:cs typeface="+mn-lt"/>
              </a:rPr>
              <a:t>models</a:t>
            </a:r>
            <a:r>
              <a:rPr lang="de-DE" sz="2400">
                <a:ea typeface="+mn-lt"/>
                <a:cs typeface="+mn-lt"/>
              </a:rPr>
              <a:t> and </a:t>
            </a:r>
            <a:r>
              <a:rPr lang="de-DE" sz="2400" err="1">
                <a:ea typeface="+mn-lt"/>
                <a:cs typeface="+mn-lt"/>
              </a:rPr>
              <a:t>animations</a:t>
            </a:r>
            <a:r>
              <a:rPr lang="de-DE" sz="2400">
                <a:ea typeface="+mn-lt"/>
                <a:cs typeface="+mn-lt"/>
              </a:rPr>
              <a:t> </a:t>
            </a:r>
            <a:r>
              <a:rPr lang="de-DE" sz="2400" err="1">
                <a:ea typeface="+mn-lt"/>
                <a:cs typeface="+mn-lt"/>
              </a:rPr>
              <a:t>created</a:t>
            </a:r>
            <a:r>
              <a:rPr lang="de-DE" sz="2400">
                <a:ea typeface="+mn-lt"/>
                <a:cs typeface="+mn-lt"/>
              </a:rPr>
              <a:t> in Blender </a:t>
            </a:r>
            <a:r>
              <a:rPr lang="de-DE" sz="2400" err="1">
                <a:ea typeface="+mn-lt"/>
                <a:cs typeface="+mn-lt"/>
              </a:rPr>
              <a:t>using</a:t>
            </a:r>
            <a:r>
              <a:rPr lang="de-DE" sz="2400">
                <a:ea typeface="+mn-lt"/>
                <a:cs typeface="+mn-lt"/>
              </a:rPr>
              <a:t> </a:t>
            </a:r>
            <a:r>
              <a:rPr lang="de-DE" sz="2400" err="1">
                <a:ea typeface="+mn-lt"/>
                <a:cs typeface="+mn-lt"/>
              </a:rPr>
              <a:t>keyframing</a:t>
            </a:r>
            <a:endParaRPr lang="de-DE" sz="2400">
              <a:ea typeface="+mn-lt"/>
              <a:cs typeface="+mn-lt"/>
            </a:endParaRPr>
          </a:p>
          <a:p>
            <a:pPr marL="342900" indent="-342900"/>
            <a:r>
              <a:rPr lang="de-DE" sz="2400" err="1">
                <a:ea typeface="+mn-lt"/>
                <a:cs typeface="+mn-lt"/>
              </a:rPr>
              <a:t>Exported</a:t>
            </a:r>
            <a:r>
              <a:rPr lang="de-DE" sz="2400">
                <a:ea typeface="+mn-lt"/>
                <a:cs typeface="+mn-lt"/>
              </a:rPr>
              <a:t> </a:t>
            </a:r>
            <a:r>
              <a:rPr lang="de-DE" sz="2400" err="1">
                <a:ea typeface="+mn-lt"/>
                <a:cs typeface="+mn-lt"/>
              </a:rPr>
              <a:t>animations</a:t>
            </a:r>
            <a:r>
              <a:rPr lang="de-DE" sz="2400">
                <a:ea typeface="+mn-lt"/>
                <a:cs typeface="+mn-lt"/>
              </a:rPr>
              <a:t> (</a:t>
            </a:r>
            <a:r>
              <a:rPr lang="de-DE" sz="2400" err="1">
                <a:ea typeface="+mn-lt"/>
                <a:cs typeface="+mn-lt"/>
              </a:rPr>
              <a:t>idle</a:t>
            </a:r>
            <a:r>
              <a:rPr lang="de-DE" sz="2400">
                <a:ea typeface="+mn-lt"/>
                <a:cs typeface="+mn-lt"/>
              </a:rPr>
              <a:t>, </a:t>
            </a:r>
            <a:r>
              <a:rPr lang="de-DE" sz="2400" err="1">
                <a:ea typeface="+mn-lt"/>
                <a:cs typeface="+mn-lt"/>
              </a:rPr>
              <a:t>run</a:t>
            </a:r>
            <a:r>
              <a:rPr lang="de-DE" sz="2400">
                <a:ea typeface="+mn-lt"/>
                <a:cs typeface="+mn-lt"/>
              </a:rPr>
              <a:t>, </a:t>
            </a:r>
            <a:r>
              <a:rPr lang="de-DE" sz="2400" err="1">
                <a:ea typeface="+mn-lt"/>
                <a:cs typeface="+mn-lt"/>
              </a:rPr>
              <a:t>attack</a:t>
            </a:r>
            <a:r>
              <a:rPr lang="de-DE" sz="2400">
                <a:ea typeface="+mn-lt"/>
                <a:cs typeface="+mn-lt"/>
              </a:rPr>
              <a:t>) </a:t>
            </a:r>
            <a:r>
              <a:rPr lang="de-DE" sz="2400" err="1">
                <a:ea typeface="+mn-lt"/>
                <a:cs typeface="+mn-lt"/>
              </a:rPr>
              <a:t>integrated</a:t>
            </a:r>
            <a:r>
              <a:rPr lang="de-DE" sz="2400">
                <a:ea typeface="+mn-lt"/>
                <a:cs typeface="+mn-lt"/>
              </a:rPr>
              <a:t> via Animator Controller in Unity</a:t>
            </a:r>
          </a:p>
          <a:p>
            <a:pPr marL="342900" indent="-342900"/>
            <a:r>
              <a:rPr lang="de-DE" sz="2400" err="1">
                <a:ea typeface="+mn-lt"/>
                <a:cs typeface="+mn-lt"/>
              </a:rPr>
              <a:t>Lighting</a:t>
            </a:r>
            <a:r>
              <a:rPr lang="de-DE" sz="2400">
                <a:ea typeface="+mn-lt"/>
                <a:cs typeface="+mn-lt"/>
              </a:rPr>
              <a:t> and </a:t>
            </a:r>
            <a:r>
              <a:rPr lang="de-DE" sz="2400" err="1">
                <a:ea typeface="+mn-lt"/>
                <a:cs typeface="+mn-lt"/>
              </a:rPr>
              <a:t>shading</a:t>
            </a:r>
            <a:r>
              <a:rPr lang="de-DE" sz="2400">
                <a:ea typeface="+mn-lt"/>
                <a:cs typeface="+mn-lt"/>
              </a:rPr>
              <a:t> </a:t>
            </a:r>
            <a:r>
              <a:rPr lang="de-DE" sz="2400" err="1">
                <a:ea typeface="+mn-lt"/>
                <a:cs typeface="+mn-lt"/>
              </a:rPr>
              <a:t>to</a:t>
            </a:r>
            <a:r>
              <a:rPr lang="de-DE" sz="2400">
                <a:ea typeface="+mn-lt"/>
                <a:cs typeface="+mn-lt"/>
              </a:rPr>
              <a:t> </a:t>
            </a:r>
            <a:r>
              <a:rPr lang="de-DE" sz="2400" err="1">
                <a:ea typeface="+mn-lt"/>
                <a:cs typeface="+mn-lt"/>
              </a:rPr>
              <a:t>create</a:t>
            </a:r>
            <a:r>
              <a:rPr lang="de-DE" sz="2400">
                <a:ea typeface="+mn-lt"/>
                <a:cs typeface="+mn-lt"/>
              </a:rPr>
              <a:t> a </a:t>
            </a:r>
            <a:r>
              <a:rPr lang="de-DE" sz="2400" err="1">
                <a:ea typeface="+mn-lt"/>
                <a:cs typeface="+mn-lt"/>
              </a:rPr>
              <a:t>dark</a:t>
            </a:r>
            <a:r>
              <a:rPr lang="de-DE" sz="2400">
                <a:ea typeface="+mn-lt"/>
                <a:cs typeface="+mn-lt"/>
              </a:rPr>
              <a:t>, </a:t>
            </a:r>
            <a:r>
              <a:rPr lang="de-DE" sz="2400" err="1">
                <a:ea typeface="+mn-lt"/>
                <a:cs typeface="+mn-lt"/>
              </a:rPr>
              <a:t>atmospheric</a:t>
            </a:r>
            <a:r>
              <a:rPr lang="de-DE" sz="2400">
                <a:ea typeface="+mn-lt"/>
                <a:cs typeface="+mn-lt"/>
              </a:rPr>
              <a:t> </a:t>
            </a:r>
            <a:r>
              <a:rPr lang="de-DE" sz="2400" err="1">
                <a:ea typeface="+mn-lt"/>
                <a:cs typeface="+mn-lt"/>
              </a:rPr>
              <a:t>look</a:t>
            </a:r>
            <a:endParaRPr lang="de-DE" sz="2400"/>
          </a:p>
          <a:p>
            <a:pPr lvl="1">
              <a:buFont typeface="Courier New" panose="020B0604020202020204" pitchFamily="34" charset="0"/>
              <a:buChar char="o"/>
            </a:pPr>
            <a:endParaRPr lang="de-DE" sz="2000"/>
          </a:p>
          <a:p>
            <a:pPr lvl="1">
              <a:buFont typeface="Courier New" panose="020B0604020202020204" pitchFamily="34" charset="0"/>
              <a:buChar char="o"/>
            </a:pPr>
            <a:endParaRPr lang="de-DE" sz="2000"/>
          </a:p>
        </p:txBody>
      </p:sp>
    </p:spTree>
    <p:extLst>
      <p:ext uri="{BB962C8B-B14F-4D97-AF65-F5344CB8AC3E}">
        <p14:creationId xmlns:p14="http://schemas.microsoft.com/office/powerpoint/2010/main" val="14142808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3EA00B8-753D-DB90-6199-847B37132D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de-DE" sz="4000">
                <a:solidFill>
                  <a:srgbClr val="FFFFFF"/>
                </a:solidFill>
              </a:rPr>
              <a:t>Faced Challenges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FE0350E-323E-C819-E630-A2503F0155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US" sz="2200">
                <a:ea typeface="+mn-lt"/>
                <a:cs typeface="+mn-lt"/>
              </a:rPr>
              <a:t>AI/</a:t>
            </a:r>
            <a:r>
              <a:rPr lang="en-US" sz="2200" err="1">
                <a:ea typeface="+mn-lt"/>
                <a:cs typeface="+mn-lt"/>
              </a:rPr>
              <a:t>NavMesh</a:t>
            </a:r>
            <a:r>
              <a:rPr lang="en-US" sz="2200">
                <a:ea typeface="+mn-lt"/>
                <a:cs typeface="+mn-lt"/>
              </a:rPr>
              <a:t> integration</a:t>
            </a:r>
          </a:p>
          <a:p>
            <a:r>
              <a:rPr lang="en-US" sz="2200">
                <a:ea typeface="+mn-lt"/>
                <a:cs typeface="+mn-lt"/>
              </a:rPr>
              <a:t>Building the game</a:t>
            </a:r>
          </a:p>
          <a:p>
            <a:r>
              <a:rPr lang="en-US" sz="2200">
                <a:ea typeface="+mn-lt"/>
                <a:cs typeface="+mn-lt"/>
              </a:rPr>
              <a:t>Version control with </a:t>
            </a:r>
            <a:r>
              <a:rPr lang="en-US" sz="2200" err="1">
                <a:ea typeface="+mn-lt"/>
                <a:cs typeface="+mn-lt"/>
              </a:rPr>
              <a:t>Wwise</a:t>
            </a:r>
            <a:r>
              <a:rPr lang="en-US" sz="2200">
                <a:ea typeface="+mn-lt"/>
                <a:cs typeface="+mn-lt"/>
              </a:rPr>
              <a:t> and Unity using Git</a:t>
            </a:r>
          </a:p>
          <a:p>
            <a:r>
              <a:rPr lang="en-US" sz="2200">
                <a:ea typeface="+mn-lt"/>
                <a:cs typeface="+mn-lt"/>
              </a:rPr>
              <a:t>Wave and Spawn system of enemies</a:t>
            </a:r>
          </a:p>
          <a:p>
            <a:r>
              <a:rPr lang="en-US" sz="2200">
                <a:ea typeface="+mn-lt"/>
                <a:cs typeface="+mn-lt"/>
              </a:rPr>
              <a:t>Unity particle system for things like muzzle flash and blood splatter</a:t>
            </a:r>
          </a:p>
        </p:txBody>
      </p:sp>
    </p:spTree>
    <p:extLst>
      <p:ext uri="{BB962C8B-B14F-4D97-AF65-F5344CB8AC3E}">
        <p14:creationId xmlns:p14="http://schemas.microsoft.com/office/powerpoint/2010/main" val="41401223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1B31AC7-316E-A5A6-2740-2CEF277A10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de-DE" sz="4000" err="1">
                <a:solidFill>
                  <a:srgbClr val="FFFFFF"/>
                </a:solidFill>
              </a:rPr>
              <a:t>Reflection</a:t>
            </a:r>
            <a:endParaRPr lang="de-DE" sz="4000">
              <a:solidFill>
                <a:srgbClr val="FFFFFF"/>
              </a:solidFill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E344882-2CD7-D2D4-6F85-D66D10D277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de-DE" sz="2400" err="1"/>
              <a:t>Don‘t</a:t>
            </a:r>
            <a:r>
              <a:rPr lang="de-DE" sz="2400"/>
              <a:t> </a:t>
            </a:r>
            <a:r>
              <a:rPr lang="de-DE" sz="2400" err="1"/>
              <a:t>underestimate</a:t>
            </a:r>
            <a:r>
              <a:rPr lang="de-DE" sz="2400"/>
              <a:t> </a:t>
            </a:r>
            <a:r>
              <a:rPr lang="de-DE" sz="2400" err="1"/>
              <a:t>the</a:t>
            </a:r>
            <a:r>
              <a:rPr lang="de-DE" sz="2400"/>
              <a:t> </a:t>
            </a:r>
            <a:r>
              <a:rPr lang="de-DE" sz="2400" err="1"/>
              <a:t>amount</a:t>
            </a:r>
            <a:r>
              <a:rPr lang="de-DE" sz="2400"/>
              <a:t> </a:t>
            </a:r>
            <a:r>
              <a:rPr lang="de-DE" sz="2400" err="1"/>
              <a:t>of</a:t>
            </a:r>
            <a:r>
              <a:rPr lang="de-DE" sz="2400"/>
              <a:t> </a:t>
            </a:r>
            <a:r>
              <a:rPr lang="de-DE" sz="2400" err="1"/>
              <a:t>little</a:t>
            </a:r>
            <a:r>
              <a:rPr lang="de-DE" sz="2400"/>
              <a:t> </a:t>
            </a:r>
            <a:r>
              <a:rPr lang="de-DE" sz="2400" err="1"/>
              <a:t>bugs</a:t>
            </a:r>
            <a:r>
              <a:rPr lang="de-DE" sz="2400"/>
              <a:t> </a:t>
            </a:r>
            <a:r>
              <a:rPr lang="de-DE" sz="2400" err="1"/>
              <a:t>you</a:t>
            </a:r>
            <a:r>
              <a:rPr lang="de-DE" sz="2400"/>
              <a:t> </a:t>
            </a:r>
            <a:r>
              <a:rPr lang="de-DE" sz="2400" err="1"/>
              <a:t>notice</a:t>
            </a:r>
            <a:r>
              <a:rPr lang="de-DE" sz="2400"/>
              <a:t> at </a:t>
            </a:r>
            <a:r>
              <a:rPr lang="de-DE" sz="2400" err="1"/>
              <a:t>the</a:t>
            </a:r>
            <a:r>
              <a:rPr lang="de-DE" sz="2400"/>
              <a:t> end </a:t>
            </a:r>
            <a:r>
              <a:rPr lang="de-DE" sz="2400" err="1"/>
              <a:t>of</a:t>
            </a:r>
            <a:r>
              <a:rPr lang="de-DE" sz="2400"/>
              <a:t> </a:t>
            </a:r>
            <a:r>
              <a:rPr lang="de-DE" sz="2400" err="1"/>
              <a:t>the</a:t>
            </a:r>
            <a:r>
              <a:rPr lang="de-DE" sz="2400"/>
              <a:t> </a:t>
            </a:r>
            <a:r>
              <a:rPr lang="de-DE" sz="2400" err="1"/>
              <a:t>project</a:t>
            </a:r>
            <a:endParaRPr lang="de-DE" sz="2400"/>
          </a:p>
          <a:p>
            <a:r>
              <a:rPr lang="de-DE" sz="2400"/>
              <a:t>Try out different </a:t>
            </a:r>
            <a:r>
              <a:rPr lang="de-DE" sz="2400" err="1"/>
              <a:t>versioning</a:t>
            </a:r>
            <a:r>
              <a:rPr lang="de-DE" sz="2400"/>
              <a:t> </a:t>
            </a:r>
            <a:r>
              <a:rPr lang="de-DE" sz="2400" err="1"/>
              <a:t>technique</a:t>
            </a:r>
            <a:r>
              <a:rPr lang="de-DE" sz="2400"/>
              <a:t> </a:t>
            </a:r>
            <a:r>
              <a:rPr lang="de-DE" sz="2400" err="1"/>
              <a:t>next</a:t>
            </a:r>
            <a:r>
              <a:rPr lang="de-DE" sz="2400"/>
              <a:t> time </a:t>
            </a:r>
            <a:r>
              <a:rPr lang="de-DE" sz="2400" err="1"/>
              <a:t>or</a:t>
            </a:r>
            <a:r>
              <a:rPr lang="de-DE" sz="2400"/>
              <a:t> find </a:t>
            </a:r>
            <a:r>
              <a:rPr lang="de-DE" sz="2400" err="1"/>
              <a:t>better</a:t>
            </a:r>
            <a:r>
              <a:rPr lang="de-DE" sz="2400"/>
              <a:t> .</a:t>
            </a:r>
            <a:r>
              <a:rPr lang="de-DE" sz="2400" err="1"/>
              <a:t>gitignores</a:t>
            </a:r>
            <a:endParaRPr lang="de-DE" sz="2400"/>
          </a:p>
          <a:p>
            <a:r>
              <a:rPr lang="de-DE" sz="2400"/>
              <a:t>Write </a:t>
            </a:r>
            <a:r>
              <a:rPr lang="de-DE" sz="2400" err="1"/>
              <a:t>better</a:t>
            </a:r>
            <a:r>
              <a:rPr lang="de-DE" sz="2400"/>
              <a:t>, </a:t>
            </a:r>
            <a:r>
              <a:rPr lang="de-DE" sz="2400" err="1"/>
              <a:t>more</a:t>
            </a:r>
            <a:r>
              <a:rPr lang="de-DE" sz="2400"/>
              <a:t> </a:t>
            </a:r>
            <a:r>
              <a:rPr lang="de-DE" sz="2400" err="1"/>
              <a:t>clear</a:t>
            </a:r>
            <a:r>
              <a:rPr lang="de-DE" sz="2400"/>
              <a:t> code </a:t>
            </a:r>
            <a:r>
              <a:rPr lang="de-DE" sz="2400" err="1"/>
              <a:t>from</a:t>
            </a:r>
            <a:r>
              <a:rPr lang="de-DE" sz="2400"/>
              <a:t> </a:t>
            </a:r>
            <a:r>
              <a:rPr lang="de-DE" sz="2400" err="1"/>
              <a:t>the</a:t>
            </a:r>
            <a:r>
              <a:rPr lang="de-DE" sz="2400"/>
              <a:t> </a:t>
            </a:r>
            <a:r>
              <a:rPr lang="de-DE" sz="2400" err="1"/>
              <a:t>beginning</a:t>
            </a:r>
            <a:endParaRPr lang="de-DE" sz="2400"/>
          </a:p>
          <a:p>
            <a:r>
              <a:rPr lang="de-DE" sz="2400"/>
              <a:t>Include </a:t>
            </a:r>
            <a:r>
              <a:rPr lang="de-DE" sz="2400" err="1"/>
              <a:t>more</a:t>
            </a:r>
            <a:r>
              <a:rPr lang="de-DE" sz="2400"/>
              <a:t> </a:t>
            </a:r>
            <a:r>
              <a:rPr lang="de-DE" sz="2400" err="1"/>
              <a:t>sound</a:t>
            </a:r>
            <a:r>
              <a:rPr lang="de-DE" sz="2400"/>
              <a:t> variations</a:t>
            </a:r>
          </a:p>
        </p:txBody>
      </p:sp>
    </p:spTree>
    <p:extLst>
      <p:ext uri="{BB962C8B-B14F-4D97-AF65-F5344CB8AC3E}">
        <p14:creationId xmlns:p14="http://schemas.microsoft.com/office/powerpoint/2010/main" val="10304138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C790BE2-4E4F-4AAF-81A2-4A6F4885E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12088DD-B1AD-40E0-8B86-1D87A2CCD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C395952-4E26-45A2-8756-2ADFD6E53C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734BADF-9461-4621-B112-2D7BABEA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2533AC-0D1F-75B8-05A9-570DB1DC15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26693" y="1030406"/>
            <a:ext cx="8147713" cy="3081242"/>
          </a:xfrm>
        </p:spPr>
        <p:txBody>
          <a:bodyPr anchor="ctr">
            <a:normAutofit/>
          </a:bodyPr>
          <a:lstStyle/>
          <a:p>
            <a:r>
              <a:rPr lang="de-DE" sz="4800">
                <a:solidFill>
                  <a:srgbClr val="FFFFFF"/>
                </a:solidFill>
              </a:rPr>
              <a:t>Thank you for listening!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3866B4-F24C-EBCD-6389-EF4E371E9A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59943" y="5171093"/>
            <a:ext cx="9078628" cy="860620"/>
          </a:xfrm>
        </p:spPr>
        <p:txBody>
          <a:bodyPr anchor="ctr">
            <a:normAutofit/>
          </a:bodyPr>
          <a:lstStyle/>
          <a:p>
            <a:endParaRPr lang="de-DE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21439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20880be2-34e4-46fb-9e89-599c900ce5b0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EB1A64F52CA4164B8F3F68C9F46D42D6" ma:contentTypeVersion="10" ma:contentTypeDescription="Ein neues Dokument erstellen." ma:contentTypeScope="" ma:versionID="a48608c097bcf3bdd0e8d34d8e08554d">
  <xsd:schema xmlns:xsd="http://www.w3.org/2001/XMLSchema" xmlns:xs="http://www.w3.org/2001/XMLSchema" xmlns:p="http://schemas.microsoft.com/office/2006/metadata/properties" xmlns:ns3="20880be2-34e4-46fb-9e89-599c900ce5b0" targetNamespace="http://schemas.microsoft.com/office/2006/metadata/properties" ma:root="true" ma:fieldsID="cfc500ac4f95839b64db05c362cde2cc" ns3:_="">
    <xsd:import namespace="20880be2-34e4-46fb-9e89-599c900ce5b0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0880be2-34e4-46fb-9e89-599c900ce5b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7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3F11811-F44D-4122-A4B6-EBB2300FEB9A}">
  <ds:schemaRefs>
    <ds:schemaRef ds:uri="http://purl.org/dc/dcmitype/"/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http://schemas.microsoft.com/office/2006/metadata/properties"/>
    <ds:schemaRef ds:uri="http://www.w3.org/XML/1998/namespace"/>
    <ds:schemaRef ds:uri="http://purl.org/dc/terms/"/>
    <ds:schemaRef ds:uri="http://schemas.microsoft.com/office/infopath/2007/PartnerControls"/>
    <ds:schemaRef ds:uri="20880be2-34e4-46fb-9e89-599c900ce5b0"/>
  </ds:schemaRefs>
</ds:datastoreItem>
</file>

<file path=customXml/itemProps2.xml><?xml version="1.0" encoding="utf-8"?>
<ds:datastoreItem xmlns:ds="http://schemas.openxmlformats.org/officeDocument/2006/customXml" ds:itemID="{422E0A61-40FC-4938-B48B-9DC115A74547}">
  <ds:schemaRefs>
    <ds:schemaRef ds:uri="20880be2-34e4-46fb-9e89-599c900ce5b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B1788E92-EDAC-4C5F-9908-E46877F1EA7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405</Words>
  <Application>Microsoft Macintosh PowerPoint</Application>
  <PresentationFormat>Widescreen</PresentationFormat>
  <Paragraphs>64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Courier New</vt:lpstr>
      <vt:lpstr>Office</vt:lpstr>
      <vt:lpstr>Deadwood</vt:lpstr>
      <vt:lpstr>Introduction &amp; Motivation</vt:lpstr>
      <vt:lpstr>3D Modeling &amp; Animation</vt:lpstr>
      <vt:lpstr>Game Audio</vt:lpstr>
      <vt:lpstr>Unity</vt:lpstr>
      <vt:lpstr>C# &amp; Theory of CG</vt:lpstr>
      <vt:lpstr>Faced Challenges</vt:lpstr>
      <vt:lpstr>Reflection</vt:lpstr>
      <vt:lpstr>Thank you for listening!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Hacker Selina</dc:creator>
  <cp:lastModifiedBy>Huber Franz-Aurel</cp:lastModifiedBy>
  <cp:revision>1</cp:revision>
  <dcterms:created xsi:type="dcterms:W3CDTF">2025-06-18T08:20:38Z</dcterms:created>
  <dcterms:modified xsi:type="dcterms:W3CDTF">2025-06-20T13:03:26Z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0x010100EB1A64F52CA4164B8F3F68C9F46D42D6</vt:lpwstr>
  </property>
</Properties>
</file>